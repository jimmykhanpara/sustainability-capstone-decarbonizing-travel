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Emissions by mode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8F6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1BE-4B81-9C73-2D8AFB657998}"/>
              </c:ext>
            </c:extLst>
          </c:dPt>
          <c:dPt>
            <c:idx val="1"/>
            <c:bubble3D val="0"/>
            <c:spPr>
              <a:solidFill>
                <a:srgbClr val="1FAE7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BE-4B81-9C73-2D8AFB657998}"/>
              </c:ext>
            </c:extLst>
          </c:dPt>
          <c:dPt>
            <c:idx val="2"/>
            <c:bubble3D val="0"/>
            <c:spPr>
              <a:solidFill>
                <a:srgbClr val="0E7C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1BE-4B81-9C73-2D8AFB657998}"/>
              </c:ext>
            </c:extLst>
          </c:dPt>
          <c:dPt>
            <c:idx val="3"/>
            <c:bubble3D val="0"/>
            <c:spPr>
              <a:solidFill>
                <a:srgbClr val="D99A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1BE-4B81-9C73-2D8AFB657998}"/>
              </c:ext>
            </c:extLst>
          </c:dPt>
          <c:dPt>
            <c:idx val="4"/>
            <c:bubble3D val="0"/>
            <c:spPr>
              <a:solidFill>
                <a:srgbClr val="9FC2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1BE-4B81-9C73-2D8AFB657998}"/>
              </c:ext>
            </c:extLst>
          </c:dPt>
          <c:cat>
            <c:strRef>
              <c:f>Sheet1!$A$2:$A$6</c:f>
              <c:strCache>
                <c:ptCount val="5"/>
                <c:pt idx="0">
                  <c:v>Business Class Flight (41%)</c:v>
                </c:pt>
                <c:pt idx="1">
                  <c:v>Economy Flight (39%)</c:v>
                </c:pt>
                <c:pt idx="2">
                  <c:v>BMW 3 Diesel (6%)</c:v>
                </c:pt>
                <c:pt idx="3">
                  <c:v>VW Golf Diesel (4%)</c:v>
                </c:pt>
                <c:pt idx="4">
                  <c:v>Other modes (10%)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41.1</c:v>
                </c:pt>
                <c:pt idx="1">
                  <c:v>39.200000000000003</c:v>
                </c:pt>
                <c:pt idx="2">
                  <c:v>6.2</c:v>
                </c:pt>
                <c:pt idx="3">
                  <c:v>4</c:v>
                </c:pt>
                <c:pt idx="4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95-D841-BD88-9D1D1662EF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kg CO2e / trip</c:v>
                </c:pt>
              </c:strCache>
            </c:strRef>
          </c:tx>
          <c:spPr>
            <a:solidFill>
              <a:srgbClr val="158F6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41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APAC / Oceania</c:v>
                </c:pt>
                <c:pt idx="1">
                  <c:v>Americas</c:v>
                </c:pt>
                <c:pt idx="2">
                  <c:v>Africa</c:v>
                </c:pt>
                <c:pt idx="3">
                  <c:v>Europe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2400</c:v>
                </c:pt>
                <c:pt idx="1">
                  <c:v>1717</c:v>
                </c:pt>
                <c:pt idx="2">
                  <c:v>950</c:v>
                </c:pt>
                <c:pt idx="3">
                  <c:v>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BF-9645-8B9F-5443E25BF1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41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kg CO2e (M)</c:v>
                </c:pt>
              </c:strCache>
            </c:strRef>
          </c:tx>
          <c:spPr>
            <a:solidFill>
              <a:srgbClr val="158F6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6241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Sales</c:v>
                </c:pt>
                <c:pt idx="1">
                  <c:v>Marketing</c:v>
                </c:pt>
                <c:pt idx="2">
                  <c:v>Value Engineering</c:v>
                </c:pt>
                <c:pt idx="3">
                  <c:v>Customer Support</c:v>
                </c:pt>
                <c:pt idx="4">
                  <c:v>Executive Mgmt</c:v>
                </c:pt>
                <c:pt idx="5">
                  <c:v>Other 9 BUs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57</c:v>
                </c:pt>
                <c:pt idx="1">
                  <c:v>38</c:v>
                </c:pt>
                <c:pt idx="2">
                  <c:v>19</c:v>
                </c:pt>
                <c:pt idx="3">
                  <c:v>17</c:v>
                </c:pt>
                <c:pt idx="4">
                  <c:v>14</c:v>
                </c:pt>
                <c:pt idx="5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5D-1E48-9F05-BBE040061B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41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kg CO2e (M)</c:v>
                </c:pt>
              </c:strCache>
            </c:strRef>
          </c:tx>
          <c:spPr>
            <a:solidFill>
              <a:srgbClr val="0E7C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6241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Customer Visit</c:v>
                </c:pt>
                <c:pt idx="1">
                  <c:v>Conference / Exhibition</c:v>
                </c:pt>
                <c:pt idx="2">
                  <c:v>Internal Business Trip</c:v>
                </c:pt>
                <c:pt idx="3">
                  <c:v>Partner Visit</c:v>
                </c:pt>
                <c:pt idx="4">
                  <c:v>Enablement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</c:v>
                </c:pt>
                <c:pt idx="1">
                  <c:v>62</c:v>
                </c:pt>
                <c:pt idx="2">
                  <c:v>20</c:v>
                </c:pt>
                <c:pt idx="3">
                  <c:v>13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40-7443-8D32-91399C7776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41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251D44-3673-2246-B19B-02BD46B5E95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B48272-7727-9241-8D34-436AA8B39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416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4.jp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7.jp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858000" cy="6858000"/>
          </a:xfrm>
          <a:prstGeom prst="ellipse">
            <a:avLst/>
          </a:prstGeom>
          <a:solidFill>
            <a:srgbClr val="123A2E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108960"/>
            <a:ext cx="4206240" cy="4206240"/>
          </a:xfrm>
          <a:prstGeom prst="ellipse">
            <a:avLst/>
          </a:prstGeom>
          <a:solidFill>
            <a:srgbClr val="17493A"/>
          </a:solidFill>
          <a:ln/>
        </p:spPr>
      </p:sp>
      <p:pic>
        <p:nvPicPr>
          <p:cNvPr id="4" name="Image 0" descr="icons/leaf_teal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0378440" y="4160520"/>
            <a:ext cx="1417320" cy="1417320"/>
          </a:xfrm>
          <a:prstGeom prst="rect">
            <a:avLst/>
          </a:prstGeom>
        </p:spPr>
      </p:pic>
      <p:pic>
        <p:nvPicPr>
          <p:cNvPr id="5" name="Image 1" descr="celonis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02920"/>
            <a:ext cx="1371600" cy="5760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360" y="19659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F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ANALYTICS 2026  ·  CAPSTONE PROJECT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66928" y="233172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Capstone:
</a:t>
            </a:r>
            <a:r>
              <a:rPr lang="en-US" sz="4000" b="1" dirty="0">
                <a:solidFill>
                  <a:srgbClr val="1FA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Decarbonizing Travel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59436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Scope 3 travel data into an actionable roadmap for Celonis' Net Zero 2030 commitment.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94360" y="4892040"/>
            <a:ext cx="6949440" cy="1627632"/>
          </a:xfrm>
          <a:prstGeom prst="roundRect">
            <a:avLst>
              <a:gd name="adj" fmla="val 5161"/>
            </a:avLst>
          </a:prstGeom>
          <a:solidFill>
            <a:srgbClr val="123A2E"/>
          </a:solidFill>
          <a:ln w="12700">
            <a:solidFill>
              <a:srgbClr val="1E564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8680" y="5056632"/>
            <a:ext cx="6492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F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Jimmy Khanpara
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F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Motilal Nehru National Institute of Technology
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F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Year: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Engineering · 2nd Year
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F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jimmykhanpara265@gmail.com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Decarbonizing Travel · Celonis Summer Analytics 2026</a:t>
            </a:r>
            <a:endParaRPr lang="en-US" sz="900" dirty="0"/>
          </a:p>
        </p:txBody>
      </p:sp>
      <p:pic>
        <p:nvPicPr>
          <p:cNvPr id="12" name="Image 2" descr="celonis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6473952"/>
            <a:ext cx="685800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5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Celonis' global business travel generated </a:t>
            </a:r>
            <a:r>
              <a:rPr lang="en-US" sz="1300" b="1" dirty="0">
                <a:solidFill>
                  <a:srgbClr val="15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178.09M kg CO₂e</a:t>
            </a:r>
            <a:r>
              <a:rPr lang="en-US" sz="13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last year — and </a:t>
            </a:r>
            <a:r>
              <a:rPr lang="en-US" sz="1300" b="1" dirty="0">
                <a:solidFill>
                  <a:srgbClr val="15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it came from flights alone</a:t>
            </a:r>
            <a:r>
              <a:rPr lang="en-US" sz="13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Closing that gap is the single fastest lever Celonis has toward its Net Zero 2030 commitment.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2F7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2130552"/>
            <a:ext cx="457200" cy="457200"/>
          </a:xfrm>
          <a:prstGeom prst="ellipse">
            <a:avLst/>
          </a:prstGeom>
          <a:solidFill>
            <a:srgbClr val="1FAE7D"/>
          </a:solidFill>
          <a:ln/>
        </p:spPr>
      </p:sp>
      <p:pic>
        <p:nvPicPr>
          <p:cNvPr id="7" name="Image 0" descr="icons/leaf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23113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07568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178.09M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280160" y="247802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CO₂e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67512" y="28072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CO₂ Emissions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19272" y="196596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2F7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83864" y="2130552"/>
            <a:ext cx="457200" cy="457200"/>
          </a:xfrm>
          <a:prstGeom prst="ellipse">
            <a:avLst/>
          </a:prstGeom>
          <a:solidFill>
            <a:srgbClr val="1FAE7D"/>
          </a:solidFill>
          <a:ln/>
        </p:spPr>
      </p:sp>
      <p:pic>
        <p:nvPicPr>
          <p:cNvPr id="13" name="Image 1" descr="icons/doll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223113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96512" y="207568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$140.48M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4096512" y="247802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spend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483864" y="28072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35624" y="196596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2F7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00216" y="2130552"/>
            <a:ext cx="457200" cy="457200"/>
          </a:xfrm>
          <a:prstGeom prst="ellipse">
            <a:avLst/>
          </a:prstGeom>
          <a:solidFill>
            <a:srgbClr val="1FAE7D"/>
          </a:solidFill>
          <a:ln/>
        </p:spPr>
      </p:sp>
      <p:pic>
        <p:nvPicPr>
          <p:cNvPr id="19" name="Image 2" descr="icons/briefc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231136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12864" y="207568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65,289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6912864" y="247802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/ year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300216" y="28072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Trips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951976" y="196596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2F7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116568" y="2130552"/>
            <a:ext cx="457200" cy="457200"/>
          </a:xfrm>
          <a:prstGeom prst="ellipse">
            <a:avLst/>
          </a:prstGeom>
          <a:solidFill>
            <a:srgbClr val="1FAE7D"/>
          </a:solidFill>
          <a:ln/>
        </p:spPr>
      </p:sp>
      <p:pic>
        <p:nvPicPr>
          <p:cNvPr id="25" name="Image 3" descr="icons/tren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7152" y="2231136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729216" y="207568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2,727.72</a:t>
            </a:r>
            <a:endParaRPr lang="en-US" sz="2100" dirty="0"/>
          </a:p>
        </p:txBody>
      </p:sp>
      <p:sp>
        <p:nvSpPr>
          <p:cNvPr id="27" name="Text 21"/>
          <p:cNvSpPr/>
          <p:nvPr/>
        </p:nvSpPr>
        <p:spPr>
          <a:xfrm>
            <a:off x="9729216" y="247802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CO₂e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9116568" y="28072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CO₂ per Trip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502920" y="3429000"/>
            <a:ext cx="5504688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8E5DE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31520" y="3566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5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INSIGHTS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31520" y="388620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 (Business + Economy) drive 80% of the entire travel carbon footprint.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 alone account for ~53% of total emissions across 14 business units.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Visits and Conferences together generate 77% of emissions — but average trip cost barely differs from low-carbon options.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153912" y="3429000"/>
            <a:ext cx="5504688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8E5DE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382512" y="3566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5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RECOMMENDATIONS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382512" y="388620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Cabin-downgrade policy (Business → Economy) on eligible routes: –47.5M kg CO₂e/yr.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Electrify the diesel company-car fleet: –10.1M kg CO₂e/yr.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Virtual-first / trip-bundling for Customer Visits &amp; Conferences: –20.6M kg CO₂e/yr.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502920" y="5742432"/>
            <a:ext cx="11183112" cy="621792"/>
          </a:xfrm>
          <a:prstGeom prst="roundRect">
            <a:avLst>
              <a:gd name="adj" fmla="val 10294"/>
            </a:avLst>
          </a:prstGeom>
          <a:solidFill>
            <a:srgbClr val="0B2B22"/>
          </a:solidFill>
          <a:ln/>
        </p:spPr>
      </p:sp>
      <p:pic>
        <p:nvPicPr>
          <p:cNvPr id="36" name="Image 4" descr="icons/target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888736"/>
            <a:ext cx="329184" cy="32918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170432" y="5742432"/>
            <a:ext cx="10378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combined potential of ~78M kg CO₂e/yr (44% of the footprint) and ~$38M/yr in avoidable cost — directly advancing Net Zero 2030.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pic>
        <p:nvPicPr>
          <p:cNvPr id="39" name="Image 5" descr="celonis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8520" y="6473952"/>
            <a:ext cx="685800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5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 1 &amp;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Emissions Profile &amp; Benchmarking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Celonis' current footprint totals 178.09M kg CO₂e across 65,289 trips — dominated by air travel and heavily skewed by departure region.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486400" cy="3977640"/>
          </a:xfrm>
          <a:prstGeom prst="roundRect">
            <a:avLst>
              <a:gd name="adj" fmla="val 1609"/>
            </a:avLst>
          </a:prstGeom>
          <a:solidFill>
            <a:srgbClr val="F2F7F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391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Emissions by Transport Mode</a:t>
            </a:r>
            <a:endParaRPr lang="en-US" sz="12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2377440"/>
          <a:ext cx="31546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023360" y="2560320"/>
            <a:ext cx="1783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73.1M kg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Class Flight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69.7M kg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Flight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11.1M kg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3 Diesel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7.2M kg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 Golf Diesel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2620" y="5489448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0B2B22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4894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80.2%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entire footprint comes from flights alone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1874520"/>
            <a:ext cx="5513832" cy="2331720"/>
          </a:xfrm>
          <a:prstGeom prst="roundRect">
            <a:avLst>
              <a:gd name="adj" fmla="val 2745"/>
            </a:avLst>
          </a:prstGeom>
          <a:solidFill>
            <a:srgbClr val="F2F7F4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2039112"/>
            <a:ext cx="5056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CO₂e per Trip by Departure Region (kg)</a:t>
            </a:r>
            <a:endParaRPr lang="en-US" sz="1200" dirty="0"/>
          </a:p>
        </p:txBody>
      </p:sp>
      <p:graphicFrame>
        <p:nvGraphicFramePr>
          <p:cNvPr id="13" name="Chart 1"/>
          <p:cNvGraphicFramePr/>
          <p:nvPr/>
        </p:nvGraphicFramePr>
        <p:xfrm>
          <a:off x="6355080" y="2377440"/>
          <a:ext cx="5148072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6172200" y="4389120"/>
            <a:ext cx="5513832" cy="1645920"/>
          </a:xfrm>
          <a:prstGeom prst="roundRect">
            <a:avLst>
              <a:gd name="adj" fmla="val 3889"/>
            </a:avLst>
          </a:prstGeom>
          <a:solidFill>
            <a:srgbClr val="0B2B22"/>
          </a:solidFill>
          <a:ln/>
        </p:spPr>
      </p:sp>
      <p:sp>
        <p:nvSpPr>
          <p:cNvPr id="15" name="Text 11"/>
          <p:cNvSpPr/>
          <p:nvPr/>
        </p:nvSpPr>
        <p:spPr>
          <a:xfrm>
            <a:off x="6446520" y="4572000"/>
            <a:ext cx="4965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F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SCORE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446520" y="4800600"/>
            <a:ext cx="4965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A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55.17%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6446520" y="5349240"/>
            <a:ext cx="4965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D9E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departures are the most carbon-efficient region (~700 kg/trip) — a benchmark APAC &amp; Americas can adopt via rail and regional routing.</a:t>
            </a:r>
            <a:endParaRPr lang="en-US" sz="980" dirty="0"/>
          </a:p>
        </p:txBody>
      </p:sp>
      <p:sp>
        <p:nvSpPr>
          <p:cNvPr id="18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Profile &amp; Benchmarking</a:t>
            </a:r>
            <a:endParaRPr lang="en-US" sz="900" dirty="0"/>
          </a:p>
        </p:txBody>
      </p:sp>
      <p:pic>
        <p:nvPicPr>
          <p:cNvPr id="19" name="Image 0" descr="celonis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6473952"/>
            <a:ext cx="685800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5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Hotspot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are heavily concentrated: a small set of business units, travel purposes, and transport modes drive most of the footprint.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2F7F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391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Emissions by Business Unit</a:t>
            </a:r>
            <a:endParaRPr lang="en-US" sz="12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2331720"/>
          <a:ext cx="51206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788152"/>
            <a:ext cx="5120640" cy="411480"/>
          </a:xfrm>
          <a:prstGeom prst="roundRect">
            <a:avLst>
              <a:gd name="adj" fmla="val 13333"/>
            </a:avLst>
          </a:prstGeom>
          <a:solidFill>
            <a:srgbClr val="0B2B22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578815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+ Marketing = 53%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footprint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513832" cy="4480560"/>
          </a:xfrm>
          <a:prstGeom prst="roundRect">
            <a:avLst>
              <a:gd name="adj" fmla="val 1429"/>
            </a:avLst>
          </a:prstGeom>
          <a:solidFill>
            <a:srgbClr val="F2F7F4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2039112"/>
            <a:ext cx="5056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Emissions by Travel Purpose</a:t>
            </a:r>
            <a:endParaRPr lang="en-US" sz="125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6355080" y="2331720"/>
          <a:ext cx="5148072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9"/>
          <p:cNvSpPr/>
          <p:nvPr/>
        </p:nvSpPr>
        <p:spPr>
          <a:xfrm>
            <a:off x="6355080" y="5788152"/>
            <a:ext cx="5148072" cy="411480"/>
          </a:xfrm>
          <a:prstGeom prst="roundRect">
            <a:avLst>
              <a:gd name="adj" fmla="val 13333"/>
            </a:avLst>
          </a:prstGeom>
          <a:solidFill>
            <a:srgbClr val="0B2B22"/>
          </a:solidFill>
          <a:ln/>
        </p:spPr>
      </p:sp>
      <p:sp>
        <p:nvSpPr>
          <p:cNvPr id="14" name="Text 10"/>
          <p:cNvSpPr/>
          <p:nvPr/>
        </p:nvSpPr>
        <p:spPr>
          <a:xfrm>
            <a:off x="6492240" y="5788152"/>
            <a:ext cx="4873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Visit + Conference = 77%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footprint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Analysis</a:t>
            </a:r>
            <a:endParaRPr lang="en-US" sz="900" dirty="0"/>
          </a:p>
        </p:txBody>
      </p:sp>
      <p:pic>
        <p:nvPicPr>
          <p:cNvPr id="16" name="Image 0" descr="celonis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6473952"/>
            <a:ext cx="685800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5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Inefficiencies Identified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surfaced from the process data explain why emissions and cost remain decoupled from good decision-making.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724912" cy="3200400"/>
          </a:xfrm>
          <a:prstGeom prst="roundRect">
            <a:avLst>
              <a:gd name="adj" fmla="val 2685"/>
            </a:avLst>
          </a:prstGeom>
          <a:solidFill>
            <a:srgbClr val="F2F7F4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2194560"/>
            <a:ext cx="548640" cy="548640"/>
          </a:xfrm>
          <a:prstGeom prst="ellipse">
            <a:avLst/>
          </a:prstGeom>
          <a:solidFill>
            <a:srgbClr val="D99A2B"/>
          </a:solidFill>
          <a:ln/>
        </p:spPr>
      </p:sp>
      <p:pic>
        <p:nvPicPr>
          <p:cNvPr id="7" name="Image 0" descr="icons/pla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32257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2880360"/>
            <a:ext cx="23225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Air-Travel Dependency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4088" y="3447288"/>
            <a:ext cx="23225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the footprint sits in flights, yet the booking flow offers no lower-carbon nudge before confirmation.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3346704" y="1965960"/>
            <a:ext cx="2724912" cy="3200400"/>
          </a:xfrm>
          <a:prstGeom prst="roundRect">
            <a:avLst>
              <a:gd name="adj" fmla="val 2685"/>
            </a:avLst>
          </a:prstGeom>
          <a:solidFill>
            <a:srgbClr val="F2F7F4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47872" y="2194560"/>
            <a:ext cx="548640" cy="548640"/>
          </a:xfrm>
          <a:prstGeom prst="ellipse">
            <a:avLst/>
          </a:prstGeom>
          <a:solidFill>
            <a:srgbClr val="D99A2B"/>
          </a:solidFill>
          <a:ln/>
        </p:spPr>
      </p:sp>
      <p:pic>
        <p:nvPicPr>
          <p:cNvPr id="12" name="Image 1" descr="icons/doll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232257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2880360"/>
            <a:ext cx="23225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– Carbon Decoupling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47872" y="3447288"/>
            <a:ext cx="23225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trip cost is nearly flat ($1.7K–$2.1K) across every business unit and shipping type — cost alone never signals carbon impact.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6190488" y="1965960"/>
            <a:ext cx="2724912" cy="3200400"/>
          </a:xfrm>
          <a:prstGeom prst="roundRect">
            <a:avLst>
              <a:gd name="adj" fmla="val 2685"/>
            </a:avLst>
          </a:prstGeom>
          <a:solidFill>
            <a:srgbClr val="F2F7F4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91656" y="2194560"/>
            <a:ext cx="548640" cy="548640"/>
          </a:xfrm>
          <a:prstGeom prst="ellipse">
            <a:avLst/>
          </a:prstGeom>
          <a:solidFill>
            <a:srgbClr val="D99A2B"/>
          </a:solidFill>
          <a:ln/>
        </p:spPr>
      </p:sp>
      <p:pic>
        <p:nvPicPr>
          <p:cNvPr id="17" name="Image 2" descr="icons/ale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232257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91656" y="2880360"/>
            <a:ext cx="23225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Leakage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391656" y="3447288"/>
            <a:ext cx="23225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Out-of-policy trips (e.g. First/Business Class) still clear approval, per the Policy Status flag — governance is manual and inconsistent.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9034272" y="1965960"/>
            <a:ext cx="2724912" cy="3200400"/>
          </a:xfrm>
          <a:prstGeom prst="roundRect">
            <a:avLst>
              <a:gd name="adj" fmla="val 2685"/>
            </a:avLst>
          </a:prstGeom>
          <a:solidFill>
            <a:srgbClr val="F2F7F4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35440" y="2194560"/>
            <a:ext cx="548640" cy="548640"/>
          </a:xfrm>
          <a:prstGeom prst="ellipse">
            <a:avLst/>
          </a:prstGeom>
          <a:solidFill>
            <a:srgbClr val="D99A2B"/>
          </a:solidFill>
          <a:ln/>
        </p:spPr>
      </p:sp>
      <p:pic>
        <p:nvPicPr>
          <p:cNvPr id="22" name="Image 3" descr="icons/za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6" y="232257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35440" y="2880360"/>
            <a:ext cx="23225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High-Impact Outliers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235440" y="3447288"/>
            <a:ext cx="23225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highest trip emitted 21,202 kg CO₂e — 7.8× the average — with no automated flag at time of booking.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502920" y="5440680"/>
            <a:ext cx="11183112" cy="914400"/>
          </a:xfrm>
          <a:prstGeom prst="roundRect">
            <a:avLst>
              <a:gd name="adj" fmla="val 7000"/>
            </a:avLst>
          </a:prstGeom>
          <a:solidFill>
            <a:srgbClr val="0B2B22"/>
          </a:solidFill>
          <a:ln/>
        </p:spPr>
      </p:sp>
      <p:pic>
        <p:nvPicPr>
          <p:cNvPr id="26" name="Image 4" descr="icons/cpu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66928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544068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Celonis Process Intelligence can turn these fragmented, manual signals into automated, carbon-aware guardrails embedded directly in the booking workflow.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Inefficiencies Identified</a:t>
            </a:r>
            <a:endParaRPr lang="en-US" sz="900" dirty="0"/>
          </a:p>
        </p:txBody>
      </p:sp>
      <p:pic>
        <p:nvPicPr>
          <p:cNvPr id="29" name="Image 5" descr="celonis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8520" y="6473952"/>
            <a:ext cx="685800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5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Low-Carbon Strategic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impact modeled from FY dashboard totals using recognized DEFRA / ICCT class-and-fuel conversion factors.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566160" cy="3520440"/>
          </a:xfrm>
          <a:prstGeom prst="roundRect">
            <a:avLst>
              <a:gd name="adj" fmla="val 2078"/>
            </a:avLst>
          </a:prstGeom>
          <a:solidFill>
            <a:srgbClr val="F2F7F4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2376" y="2093976"/>
            <a:ext cx="566928" cy="566928"/>
          </a:xfrm>
          <a:prstGeom prst="ellipse">
            <a:avLst/>
          </a:prstGeom>
          <a:solidFill>
            <a:srgbClr val="158F65"/>
          </a:solidFill>
          <a:ln/>
        </p:spPr>
      </p:sp>
      <p:pic>
        <p:nvPicPr>
          <p:cNvPr id="7" name="Image 0" descr="icons/pla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2311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2376" y="2788920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Cabin-Downgrade Policy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22376" y="3291840"/>
            <a:ext cx="31272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eligible Business Class routes to Economy (~65% lower CO₂e per DEFRA class factors).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22376" y="4343400"/>
            <a:ext cx="3127248" cy="841248"/>
          </a:xfrm>
          <a:prstGeom prst="roundRect">
            <a:avLst>
              <a:gd name="adj" fmla="val 6522"/>
            </a:avLst>
          </a:prstGeom>
          <a:solidFill>
            <a:srgbClr val="0B2B22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440740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A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–47.5M kg CO₂e/yr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68680" y="47731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E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~$22.1M/yr saved   •   27% of footprint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215384" y="1874520"/>
            <a:ext cx="3566160" cy="3520440"/>
          </a:xfrm>
          <a:prstGeom prst="roundRect">
            <a:avLst>
              <a:gd name="adj" fmla="val 2078"/>
            </a:avLst>
          </a:prstGeom>
          <a:solidFill>
            <a:srgbClr val="F2F7F4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34840" y="2093976"/>
            <a:ext cx="566928" cy="566928"/>
          </a:xfrm>
          <a:prstGeom prst="ellipse">
            <a:avLst/>
          </a:prstGeom>
          <a:solidFill>
            <a:srgbClr val="158F65"/>
          </a:solidFill>
          <a:ln/>
        </p:spPr>
      </p:sp>
      <p:pic>
        <p:nvPicPr>
          <p:cNvPr id="15" name="Image 1" descr="icons/batter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31136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34840" y="2788920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Electrify the Company-Car Fleet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434840" y="3291840"/>
            <a:ext cx="31272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diesel BMW 3 / VW Golf bookings with EV options already in the shipping mix (~55% lower CO₂e).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434840" y="4343400"/>
            <a:ext cx="3127248" cy="841248"/>
          </a:xfrm>
          <a:prstGeom prst="roundRect">
            <a:avLst>
              <a:gd name="adj" fmla="val 6522"/>
            </a:avLst>
          </a:prstGeom>
          <a:solidFill>
            <a:srgbClr val="0B2B22"/>
          </a:solidFill>
          <a:ln/>
        </p:spPr>
      </p:sp>
      <p:sp>
        <p:nvSpPr>
          <p:cNvPr id="19" name="Text 15"/>
          <p:cNvSpPr/>
          <p:nvPr/>
        </p:nvSpPr>
        <p:spPr>
          <a:xfrm>
            <a:off x="4581144" y="440740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A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–10.1M kg CO₂e/yr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4581144" y="47731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E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total cost of ownership   •   6% of footprint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7927848" y="1874520"/>
            <a:ext cx="3566160" cy="3520440"/>
          </a:xfrm>
          <a:prstGeom prst="roundRect">
            <a:avLst>
              <a:gd name="adj" fmla="val 2078"/>
            </a:avLst>
          </a:prstGeom>
          <a:solidFill>
            <a:srgbClr val="F2F7F4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147304" y="2093976"/>
            <a:ext cx="566928" cy="566928"/>
          </a:xfrm>
          <a:prstGeom prst="ellipse">
            <a:avLst/>
          </a:prstGeom>
          <a:solidFill>
            <a:srgbClr val="158F65"/>
          </a:solidFill>
          <a:ln/>
        </p:spPr>
      </p:sp>
      <p:pic>
        <p:nvPicPr>
          <p:cNvPr id="23" name="Image 2" descr="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4" y="2231136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147304" y="2788920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Virtual-First &amp; Trip Bundling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8147304" y="3291840"/>
            <a:ext cx="31272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 15% volume reduction on Customer Visit &amp; Conference travel via virtual check-ins and route bundling.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147304" y="4343400"/>
            <a:ext cx="3127248" cy="841248"/>
          </a:xfrm>
          <a:prstGeom prst="roundRect">
            <a:avLst>
              <a:gd name="adj" fmla="val 6522"/>
            </a:avLst>
          </a:prstGeom>
          <a:solidFill>
            <a:srgbClr val="0B2B22"/>
          </a:solidFill>
          <a:ln/>
        </p:spPr>
      </p:sp>
      <p:sp>
        <p:nvSpPr>
          <p:cNvPr id="27" name="Text 22"/>
          <p:cNvSpPr/>
          <p:nvPr/>
        </p:nvSpPr>
        <p:spPr>
          <a:xfrm>
            <a:off x="8293608" y="440740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A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–20.6M kg CO₂e/yr</a:t>
            </a:r>
            <a:endParaRPr lang="en-US" sz="1550" dirty="0"/>
          </a:p>
        </p:txBody>
      </p:sp>
      <p:sp>
        <p:nvSpPr>
          <p:cNvPr id="28" name="Text 23"/>
          <p:cNvSpPr/>
          <p:nvPr/>
        </p:nvSpPr>
        <p:spPr>
          <a:xfrm>
            <a:off x="8293608" y="47731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E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~$16.2M/yr saved   •   12% of footprint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502920" y="5577840"/>
            <a:ext cx="11183112" cy="777240"/>
          </a:xfrm>
          <a:prstGeom prst="roundRect">
            <a:avLst>
              <a:gd name="adj" fmla="val 8235"/>
            </a:avLst>
          </a:prstGeom>
          <a:solidFill>
            <a:srgbClr val="158F65"/>
          </a:solidFill>
          <a:ln/>
        </p:spPr>
      </p:sp>
      <p:pic>
        <p:nvPicPr>
          <p:cNvPr id="30" name="Image 3" descr="icons/targ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60720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325880" y="557784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Potential: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–78.1M kg CO₂e/yr (44% of footprint)  and  ~$38.3M/yr in avoidable travel spend.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Low-Carbon Strategic Recommendations</a:t>
            </a:r>
            <a:endParaRPr lang="en-US" sz="900" dirty="0"/>
          </a:p>
        </p:txBody>
      </p:sp>
      <p:pic>
        <p:nvPicPr>
          <p:cNvPr id="33" name="Image 4" descr="celonis_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8520" y="6473952"/>
            <a:ext cx="685800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F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INTEGRATION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Visibility to Net Zero by 2030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plan that scales this analysis into Celonis' long-term sustainability strategy.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05840" y="2834640"/>
            <a:ext cx="10177272" cy="0"/>
          </a:xfrm>
          <a:prstGeom prst="line">
            <a:avLst/>
          </a:prstGeom>
          <a:noFill/>
          <a:ln w="25400">
            <a:solidFill>
              <a:srgbClr val="1E56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1288" y="2587752"/>
            <a:ext cx="502920" cy="502920"/>
          </a:xfrm>
          <a:prstGeom prst="ellipse">
            <a:avLst/>
          </a:prstGeom>
          <a:solidFill>
            <a:srgbClr val="1FAE7D"/>
          </a:solidFill>
          <a:ln w="38100">
            <a:solidFill>
              <a:srgbClr val="0B2B22"/>
            </a:solidFill>
            <a:prstDash val="solid"/>
          </a:ln>
        </p:spPr>
      </p:sp>
      <p:pic>
        <p:nvPicPr>
          <p:cNvPr id="8" name="Image 0" descr="icons/eye_dark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706624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17296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A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3520440"/>
            <a:ext cx="2084832" cy="1783080"/>
          </a:xfrm>
          <a:prstGeom prst="roundRect">
            <a:avLst>
              <a:gd name="adj" fmla="val 3590"/>
            </a:avLst>
          </a:prstGeom>
          <a:solidFill>
            <a:srgbClr val="123A2E"/>
          </a:solidFill>
          <a:ln w="12700">
            <a:solidFill>
              <a:srgbClr val="1E56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63016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67512" y="3995928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80" dirty="0">
                <a:solidFill>
                  <a:srgbClr val="CF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live carbon dashboards (this Process App) across all business units.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3364992" y="2587752"/>
            <a:ext cx="502920" cy="502920"/>
          </a:xfrm>
          <a:prstGeom prst="ellipse">
            <a:avLst/>
          </a:prstGeom>
          <a:solidFill>
            <a:srgbClr val="1FAE7D"/>
          </a:solidFill>
          <a:ln w="38100">
            <a:solidFill>
              <a:srgbClr val="0B2B22"/>
            </a:solidFill>
            <a:prstDash val="solid"/>
          </a:ln>
        </p:spPr>
      </p:sp>
      <p:pic>
        <p:nvPicPr>
          <p:cNvPr id="14" name="Image 1" descr="icons/cpu_dark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864" y="2706624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06624" y="317296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A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2706624" y="3520440"/>
            <a:ext cx="2084832" cy="1783080"/>
          </a:xfrm>
          <a:prstGeom prst="roundRect">
            <a:avLst>
              <a:gd name="adj" fmla="val 3590"/>
            </a:avLst>
          </a:prstGeom>
          <a:solidFill>
            <a:srgbClr val="123A2E"/>
          </a:solidFill>
          <a:ln w="12700">
            <a:solidFill>
              <a:srgbClr val="1E564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843784" y="363016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2871216" y="3995928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80" dirty="0">
                <a:solidFill>
                  <a:srgbClr val="CF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carbon thresholds into approval workflows; auto-flag out-of-policy, high-CO₂ bookings.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5568696" y="2587752"/>
            <a:ext cx="502920" cy="502920"/>
          </a:xfrm>
          <a:prstGeom prst="ellipse">
            <a:avLst/>
          </a:prstGeom>
          <a:solidFill>
            <a:srgbClr val="1FAE7D"/>
          </a:solidFill>
          <a:ln w="38100">
            <a:solidFill>
              <a:srgbClr val="0B2B22"/>
            </a:solidFill>
            <a:prstDash val="solid"/>
          </a:ln>
        </p:spPr>
      </p:sp>
      <p:pic>
        <p:nvPicPr>
          <p:cNvPr id="20" name="Image 2" descr="icons/compass_dark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568" y="2706624"/>
            <a:ext cx="265176" cy="26517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910328" y="317296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A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4910328" y="3520440"/>
            <a:ext cx="2084832" cy="1783080"/>
          </a:xfrm>
          <a:prstGeom prst="roundRect">
            <a:avLst>
              <a:gd name="adj" fmla="val 3590"/>
            </a:avLst>
          </a:prstGeom>
          <a:solidFill>
            <a:srgbClr val="123A2E"/>
          </a:solidFill>
          <a:ln w="12700">
            <a:solidFill>
              <a:srgbClr val="1E5642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047488" y="363016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074920" y="3995928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80" dirty="0">
                <a:solidFill>
                  <a:srgbClr val="CF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cabin-downgrade policy and EV fleet transition; bundle Customer Visit travel.</a:t>
            </a:r>
            <a:endParaRPr lang="en-US" sz="980" dirty="0"/>
          </a:p>
        </p:txBody>
      </p:sp>
      <p:sp>
        <p:nvSpPr>
          <p:cNvPr id="25" name="Shape 20"/>
          <p:cNvSpPr/>
          <p:nvPr/>
        </p:nvSpPr>
        <p:spPr>
          <a:xfrm>
            <a:off x="7772400" y="2587752"/>
            <a:ext cx="502920" cy="502920"/>
          </a:xfrm>
          <a:prstGeom prst="ellipse">
            <a:avLst/>
          </a:prstGeom>
          <a:solidFill>
            <a:srgbClr val="1FAE7D"/>
          </a:solidFill>
          <a:ln w="38100">
            <a:solidFill>
              <a:srgbClr val="0B2B22"/>
            </a:solidFill>
            <a:prstDash val="solid"/>
          </a:ln>
        </p:spPr>
      </p:sp>
      <p:pic>
        <p:nvPicPr>
          <p:cNvPr id="26" name="Image 3" descr="icons/bar_dark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272" y="2706624"/>
            <a:ext cx="265176" cy="26517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14032" y="317296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A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2029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7114032" y="3520440"/>
            <a:ext cx="2084832" cy="1783080"/>
          </a:xfrm>
          <a:prstGeom prst="roundRect">
            <a:avLst>
              <a:gd name="adj" fmla="val 3590"/>
            </a:avLst>
          </a:prstGeom>
          <a:solidFill>
            <a:srgbClr val="123A2E"/>
          </a:solidFill>
          <a:ln w="12700">
            <a:solidFill>
              <a:srgbClr val="1E5642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251192" y="363016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Routing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7278624" y="3995928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80" dirty="0">
                <a:solidFill>
                  <a:srgbClr val="CF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Predictive, AI-recommended low-carbon routes and virtual-first triggers at point of booking.</a:t>
            </a:r>
            <a:endParaRPr lang="en-US" sz="980" dirty="0"/>
          </a:p>
        </p:txBody>
      </p:sp>
      <p:sp>
        <p:nvSpPr>
          <p:cNvPr id="31" name="Shape 25"/>
          <p:cNvSpPr/>
          <p:nvPr/>
        </p:nvSpPr>
        <p:spPr>
          <a:xfrm>
            <a:off x="9976104" y="2587752"/>
            <a:ext cx="502920" cy="502920"/>
          </a:xfrm>
          <a:prstGeom prst="ellipse">
            <a:avLst/>
          </a:prstGeom>
          <a:solidFill>
            <a:srgbClr val="1FAE7D"/>
          </a:solidFill>
          <a:ln w="38100">
            <a:solidFill>
              <a:srgbClr val="0B2B22"/>
            </a:solidFill>
            <a:prstDash val="solid"/>
          </a:ln>
        </p:spPr>
      </p:sp>
      <p:pic>
        <p:nvPicPr>
          <p:cNvPr id="32" name="Image 4" descr="icons/flag_dark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4976" y="2706624"/>
            <a:ext cx="265176" cy="26517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317736" y="317296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A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2030</a:t>
            </a:r>
            <a:endParaRPr lang="en-US" sz="1500" dirty="0"/>
          </a:p>
        </p:txBody>
      </p:sp>
      <p:sp>
        <p:nvSpPr>
          <p:cNvPr id="34" name="Shape 27"/>
          <p:cNvSpPr/>
          <p:nvPr/>
        </p:nvSpPr>
        <p:spPr>
          <a:xfrm>
            <a:off x="9317736" y="3520440"/>
            <a:ext cx="2084832" cy="1783080"/>
          </a:xfrm>
          <a:prstGeom prst="roundRect">
            <a:avLst>
              <a:gd name="adj" fmla="val 3590"/>
            </a:avLst>
          </a:prstGeom>
          <a:solidFill>
            <a:srgbClr val="123A2E"/>
          </a:solidFill>
          <a:ln w="12700">
            <a:solidFill>
              <a:srgbClr val="1E5642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9454896" y="363016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Zero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9482328" y="3995928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80" dirty="0">
                <a:solidFill>
                  <a:srgbClr val="CF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travel emissions on track for Celonis' Net Zero 2030 commitment.</a:t>
            </a:r>
            <a:endParaRPr lang="en-US" sz="980" dirty="0"/>
          </a:p>
        </p:txBody>
      </p:sp>
      <p:sp>
        <p:nvSpPr>
          <p:cNvPr id="37" name="Shape 30"/>
          <p:cNvSpPr/>
          <p:nvPr/>
        </p:nvSpPr>
        <p:spPr>
          <a:xfrm>
            <a:off x="502920" y="5806440"/>
            <a:ext cx="11183112" cy="621792"/>
          </a:xfrm>
          <a:prstGeom prst="roundRect">
            <a:avLst>
              <a:gd name="adj" fmla="val 10294"/>
            </a:avLst>
          </a:prstGeom>
          <a:solidFill>
            <a:srgbClr val="1FAE7D"/>
          </a:solidFill>
          <a:ln/>
        </p:spPr>
      </p:sp>
      <p:sp>
        <p:nvSpPr>
          <p:cNvPr id="38" name="Text 31"/>
          <p:cNvSpPr/>
          <p:nvPr/>
        </p:nvSpPr>
        <p:spPr>
          <a:xfrm>
            <a:off x="502920" y="5806440"/>
            <a:ext cx="111831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Outcome:  ~44% reduction in Scope 3 travel emissions by 2030 if quick wins launch in 2026.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Integration Roadmap</a:t>
            </a:r>
            <a:endParaRPr lang="en-US" sz="900" dirty="0"/>
          </a:p>
        </p:txBody>
      </p:sp>
      <p:pic>
        <p:nvPicPr>
          <p:cNvPr id="40" name="Image 5" descr="celonis_logo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8520" y="6473952"/>
            <a:ext cx="685800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5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Emissions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087368" y="1344168"/>
            <a:ext cx="7690104" cy="5285232"/>
          </a:xfrm>
          <a:prstGeom prst="roundRect">
            <a:avLst>
              <a:gd name="adj" fmla="val 1038"/>
            </a:avLst>
          </a:prstGeom>
          <a:solidFill>
            <a:srgbClr val="FFFFFF"/>
          </a:solidFill>
          <a:ln w="19050">
            <a:solidFill>
              <a:srgbClr val="D8E5DE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77990" y="1417320"/>
            <a:ext cx="7308860" cy="5138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417320"/>
            <a:ext cx="3429000" cy="5138928"/>
          </a:xfrm>
          <a:prstGeom prst="roundRect">
            <a:avLst>
              <a:gd name="adj" fmla="val 1867"/>
            </a:avLst>
          </a:prstGeom>
          <a:solidFill>
            <a:srgbClr val="F2F7F4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6002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5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2011680"/>
            <a:ext cx="384048" cy="384048"/>
          </a:xfrm>
          <a:prstGeom prst="ellipse">
            <a:avLst/>
          </a:prstGeom>
          <a:solidFill>
            <a:srgbClr val="158F65"/>
          </a:solidFill>
          <a:ln/>
        </p:spPr>
      </p:sp>
      <p:pic>
        <p:nvPicPr>
          <p:cNvPr id="9" name="Image 1" descr="icons/b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209397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16152" y="19659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178.09M kg CO₂e total emissions across 65,289 trips ($140.48M spend).</a:t>
            </a:r>
            <a:endParaRPr lang="en-US" sz="1060" dirty="0"/>
          </a:p>
        </p:txBody>
      </p:sp>
      <p:sp>
        <p:nvSpPr>
          <p:cNvPr id="11" name="Shape 7"/>
          <p:cNvSpPr/>
          <p:nvPr/>
        </p:nvSpPr>
        <p:spPr>
          <a:xfrm>
            <a:off x="731520" y="3182112"/>
            <a:ext cx="384048" cy="384048"/>
          </a:xfrm>
          <a:prstGeom prst="ellipse">
            <a:avLst/>
          </a:prstGeom>
          <a:solidFill>
            <a:srgbClr val="158F65"/>
          </a:solidFill>
          <a:ln/>
        </p:spPr>
      </p:sp>
      <p:pic>
        <p:nvPicPr>
          <p:cNvPr id="12" name="Image 2" descr="icons/pla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264408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16152" y="313639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Economy flights: 41% + 39% = 80% of all emissions.</a:t>
            </a:r>
            <a:endParaRPr lang="en-US" sz="1060" dirty="0"/>
          </a:p>
        </p:txBody>
      </p:sp>
      <p:sp>
        <p:nvSpPr>
          <p:cNvPr id="14" name="Shape 9"/>
          <p:cNvSpPr/>
          <p:nvPr/>
        </p:nvSpPr>
        <p:spPr>
          <a:xfrm>
            <a:off x="731520" y="4352544"/>
            <a:ext cx="384048" cy="384048"/>
          </a:xfrm>
          <a:prstGeom prst="ellipse">
            <a:avLst/>
          </a:prstGeom>
          <a:solidFill>
            <a:srgbClr val="158F65"/>
          </a:solidFill>
          <a:ln/>
        </p:spPr>
      </p:sp>
      <p:pic>
        <p:nvPicPr>
          <p:cNvPr id="15" name="Image 3" descr="icons/tren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4434840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16152" y="4306824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is the single largest emitting business unit.</a:t>
            </a:r>
            <a:endParaRPr lang="en-US" sz="1060" dirty="0"/>
          </a:p>
        </p:txBody>
      </p:sp>
      <p:sp>
        <p:nvSpPr>
          <p:cNvPr id="17" name="Shape 11"/>
          <p:cNvSpPr/>
          <p:nvPr/>
        </p:nvSpPr>
        <p:spPr>
          <a:xfrm>
            <a:off x="731520" y="5522976"/>
            <a:ext cx="384048" cy="384048"/>
          </a:xfrm>
          <a:prstGeom prst="ellipse">
            <a:avLst/>
          </a:prstGeom>
          <a:solidFill>
            <a:srgbClr val="158F65"/>
          </a:solidFill>
          <a:ln/>
        </p:spPr>
      </p:sp>
      <p:pic>
        <p:nvPicPr>
          <p:cNvPr id="18" name="Image 4" descr="icons/filt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" y="5605272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16152" y="5477256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BU, transport mode, purpose, policy status &amp; geography for drill-down.</a:t>
            </a:r>
            <a:endParaRPr lang="en-US" sz="1060" dirty="0"/>
          </a:p>
        </p:txBody>
      </p:sp>
      <p:sp>
        <p:nvSpPr>
          <p:cNvPr id="20" name="Text 1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Emissions Overview</a:t>
            </a:r>
            <a:endParaRPr lang="en-US" sz="900" dirty="0"/>
          </a:p>
        </p:txBody>
      </p:sp>
      <p:pic>
        <p:nvPicPr>
          <p:cNvPr id="21" name="Image 5" descr="celonis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8520" y="6473952"/>
            <a:ext cx="685800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5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Benchmarking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087368" y="1344168"/>
            <a:ext cx="7690104" cy="5285232"/>
          </a:xfrm>
          <a:prstGeom prst="roundRect">
            <a:avLst>
              <a:gd name="adj" fmla="val 1038"/>
            </a:avLst>
          </a:prstGeom>
          <a:solidFill>
            <a:srgbClr val="FFFFFF"/>
          </a:solidFill>
          <a:ln w="19050">
            <a:solidFill>
              <a:srgbClr val="D8E5DE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dash-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60520" y="1417320"/>
            <a:ext cx="7543800" cy="5138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417320"/>
            <a:ext cx="3429000" cy="5138928"/>
          </a:xfrm>
          <a:prstGeom prst="roundRect">
            <a:avLst>
              <a:gd name="adj" fmla="val 1867"/>
            </a:avLst>
          </a:prstGeom>
          <a:solidFill>
            <a:srgbClr val="F2F7F4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6002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5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2011680"/>
            <a:ext cx="384048" cy="384048"/>
          </a:xfrm>
          <a:prstGeom prst="ellipse">
            <a:avLst/>
          </a:prstGeom>
          <a:solidFill>
            <a:srgbClr val="158F65"/>
          </a:solidFill>
          <a:ln/>
        </p:spPr>
      </p:sp>
      <p:pic>
        <p:nvPicPr>
          <p:cNvPr id="9" name="Image 1" descr="icons/targ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209397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16152" y="19659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Score of 55.17% quantifies overall travel efficiency.</a:t>
            </a:r>
            <a:endParaRPr lang="en-US" sz="1060" dirty="0"/>
          </a:p>
        </p:txBody>
      </p:sp>
      <p:sp>
        <p:nvSpPr>
          <p:cNvPr id="11" name="Shape 7"/>
          <p:cNvSpPr/>
          <p:nvPr/>
        </p:nvSpPr>
        <p:spPr>
          <a:xfrm>
            <a:off x="731520" y="3182112"/>
            <a:ext cx="384048" cy="384048"/>
          </a:xfrm>
          <a:prstGeom prst="ellipse">
            <a:avLst/>
          </a:prstGeom>
          <a:solidFill>
            <a:srgbClr val="158F65"/>
          </a:solidFill>
          <a:ln/>
        </p:spPr>
      </p:sp>
      <p:pic>
        <p:nvPicPr>
          <p:cNvPr id="12" name="Image 2" descr="icons/dolla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264408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16152" y="313639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trip cost is flat (~$1.7K–$2.1K) regardless of business unit or transport mode.</a:t>
            </a:r>
            <a:endParaRPr lang="en-US" sz="1060" dirty="0"/>
          </a:p>
        </p:txBody>
      </p:sp>
      <p:sp>
        <p:nvSpPr>
          <p:cNvPr id="14" name="Shape 9"/>
          <p:cNvSpPr/>
          <p:nvPr/>
        </p:nvSpPr>
        <p:spPr>
          <a:xfrm>
            <a:off x="731520" y="4352544"/>
            <a:ext cx="384048" cy="384048"/>
          </a:xfrm>
          <a:prstGeom prst="ellipse">
            <a:avLst/>
          </a:prstGeom>
          <a:solidFill>
            <a:srgbClr val="158F65"/>
          </a:solidFill>
          <a:ln/>
        </p:spPr>
      </p:sp>
      <p:pic>
        <p:nvPicPr>
          <p:cNvPr id="15" name="Image 3" descr="icons/glob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4434840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16152" y="4306824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CO₂/trip by departure country: AU &amp; CN highest, ES &amp; DE lowest.</a:t>
            </a:r>
            <a:endParaRPr lang="en-US" sz="1060" dirty="0"/>
          </a:p>
        </p:txBody>
      </p:sp>
      <p:sp>
        <p:nvSpPr>
          <p:cNvPr id="17" name="Shape 11"/>
          <p:cNvSpPr/>
          <p:nvPr/>
        </p:nvSpPr>
        <p:spPr>
          <a:xfrm>
            <a:off x="731520" y="5522976"/>
            <a:ext cx="384048" cy="384048"/>
          </a:xfrm>
          <a:prstGeom prst="ellipse">
            <a:avLst/>
          </a:prstGeom>
          <a:solidFill>
            <a:srgbClr val="158F65"/>
          </a:solidFill>
          <a:ln/>
        </p:spPr>
      </p:sp>
      <p:pic>
        <p:nvPicPr>
          <p:cNvPr id="18" name="Image 4" descr="icons/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" y="5605272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16152" y="5477256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cost is a poor proxy for carbon — policy must optimize for CO₂ directly.</a:t>
            </a:r>
            <a:endParaRPr lang="en-US" sz="1060" dirty="0"/>
          </a:p>
        </p:txBody>
      </p:sp>
      <p:sp>
        <p:nvSpPr>
          <p:cNvPr id="20" name="Text 1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Benchmarking</a:t>
            </a:r>
            <a:endParaRPr lang="en-US" sz="900" dirty="0"/>
          </a:p>
        </p:txBody>
      </p:sp>
      <p:pic>
        <p:nvPicPr>
          <p:cNvPr id="21" name="Image 5" descr="celonis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8520" y="6473952"/>
            <a:ext cx="685800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5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Emission Drilldown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087368" y="1344168"/>
            <a:ext cx="7690104" cy="5285232"/>
          </a:xfrm>
          <a:prstGeom prst="roundRect">
            <a:avLst>
              <a:gd name="adj" fmla="val 1038"/>
            </a:avLst>
          </a:prstGeom>
          <a:solidFill>
            <a:srgbClr val="FFFFFF"/>
          </a:solidFill>
          <a:ln w="19050">
            <a:solidFill>
              <a:srgbClr val="D8E5DE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dash-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60520" y="1417320"/>
            <a:ext cx="7543800" cy="5138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417320"/>
            <a:ext cx="3429000" cy="5138928"/>
          </a:xfrm>
          <a:prstGeom prst="roundRect">
            <a:avLst>
              <a:gd name="adj" fmla="val 1867"/>
            </a:avLst>
          </a:prstGeom>
          <a:solidFill>
            <a:srgbClr val="F2F7F4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6002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58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2011680"/>
            <a:ext cx="384048" cy="384048"/>
          </a:xfrm>
          <a:prstGeom prst="ellipse">
            <a:avLst/>
          </a:prstGeom>
          <a:solidFill>
            <a:srgbClr val="158F65"/>
          </a:solidFill>
          <a:ln/>
        </p:spPr>
      </p:sp>
      <p:pic>
        <p:nvPicPr>
          <p:cNvPr id="9" name="Image 1" descr="icons/z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209397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16152" y="19659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single trip: 21,202.49 kg CO₂e — 7.8× the 2,727.72 kg average.</a:t>
            </a:r>
            <a:endParaRPr lang="en-US" sz="1060" dirty="0"/>
          </a:p>
        </p:txBody>
      </p:sp>
      <p:sp>
        <p:nvSpPr>
          <p:cNvPr id="11" name="Shape 7"/>
          <p:cNvSpPr/>
          <p:nvPr/>
        </p:nvSpPr>
        <p:spPr>
          <a:xfrm>
            <a:off x="731520" y="3182112"/>
            <a:ext cx="384048" cy="384048"/>
          </a:xfrm>
          <a:prstGeom prst="ellipse">
            <a:avLst/>
          </a:prstGeom>
          <a:solidFill>
            <a:srgbClr val="158F65"/>
          </a:solidFill>
          <a:ln/>
        </p:spPr>
      </p:sp>
      <p:pic>
        <p:nvPicPr>
          <p:cNvPr id="12" name="Image 2" descr="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264408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16152" y="313639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Visit and Conference/Exhibition purposes dominate the emission mix.</a:t>
            </a:r>
            <a:endParaRPr lang="en-US" sz="1060" dirty="0"/>
          </a:p>
        </p:txBody>
      </p:sp>
      <p:sp>
        <p:nvSpPr>
          <p:cNvPr id="14" name="Shape 9"/>
          <p:cNvSpPr/>
          <p:nvPr/>
        </p:nvSpPr>
        <p:spPr>
          <a:xfrm>
            <a:off x="731520" y="4352544"/>
            <a:ext cx="384048" cy="384048"/>
          </a:xfrm>
          <a:prstGeom prst="ellipse">
            <a:avLst/>
          </a:prstGeom>
          <a:solidFill>
            <a:srgbClr val="158F65"/>
          </a:solidFill>
          <a:ln/>
        </p:spPr>
      </p:sp>
      <p:pic>
        <p:nvPicPr>
          <p:cNvPr id="15" name="Image 3" descr="icons/lay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4434840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16152" y="4306824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Trip-level detail table supports root-cause investigation for High-Carbon Trips.</a:t>
            </a:r>
            <a:endParaRPr lang="en-US" sz="1060" dirty="0"/>
          </a:p>
        </p:txBody>
      </p:sp>
      <p:sp>
        <p:nvSpPr>
          <p:cNvPr id="17" name="Shape 11"/>
          <p:cNvSpPr/>
          <p:nvPr/>
        </p:nvSpPr>
        <p:spPr>
          <a:xfrm>
            <a:off x="731520" y="5522976"/>
            <a:ext cx="384048" cy="384048"/>
          </a:xfrm>
          <a:prstGeom prst="ellipse">
            <a:avLst/>
          </a:prstGeom>
          <a:solidFill>
            <a:srgbClr val="158F65"/>
          </a:solidFill>
          <a:ln/>
        </p:spPr>
      </p:sp>
      <p:pic>
        <p:nvPicPr>
          <p:cNvPr id="18" name="Image 4" descr="icons/aw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" y="5605272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16152" y="5477256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Celonis' Process &amp; Variant Explorer for live executive walkthroughs.</a:t>
            </a:r>
            <a:endParaRPr lang="en-US" sz="1060" dirty="0"/>
          </a:p>
        </p:txBody>
      </p:sp>
      <p:sp>
        <p:nvSpPr>
          <p:cNvPr id="20" name="Text 1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Emission Drilldown</a:t>
            </a:r>
            <a:endParaRPr lang="en-US" sz="900" dirty="0"/>
          </a:p>
        </p:txBody>
      </p:sp>
      <p:pic>
        <p:nvPicPr>
          <p:cNvPr id="21" name="Image 5" descr="celonis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8520" y="6473952"/>
            <a:ext cx="685800" cy="2880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1165</Words>
  <Application>Microsoft Office PowerPoint</Application>
  <PresentationFormat>Widescreen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Jimmy Khanpara</cp:lastModifiedBy>
  <cp:revision>5</cp:revision>
  <dcterms:created xsi:type="dcterms:W3CDTF">2026-07-16T04:24:01Z</dcterms:created>
  <dcterms:modified xsi:type="dcterms:W3CDTF">2026-07-16T05:11:31Z</dcterms:modified>
</cp:coreProperties>
</file>