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  <p:sldMasterId id="214748368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Poppins SemiBold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regular.fntdata"/><Relationship Id="rId11" Type="http://schemas.openxmlformats.org/officeDocument/2006/relationships/slide" Target="slides/slide4.xml"/><Relationship Id="rId22" Type="http://schemas.openxmlformats.org/officeDocument/2006/relationships/font" Target="fonts/PoppinsSemiBold-italic.fntdata"/><Relationship Id="rId10" Type="http://schemas.openxmlformats.org/officeDocument/2006/relationships/slide" Target="slides/slide3.xml"/><Relationship Id="rId21" Type="http://schemas.openxmlformats.org/officeDocument/2006/relationships/font" Target="fonts/PoppinsSemiBold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schemas.openxmlformats.org/officeDocument/2006/relationships/font" Target="fonts/PoppinsSemiBold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Poppins-boldItalic.fntdata"/><Relationship Id="rId6" Type="http://schemas.openxmlformats.org/officeDocument/2006/relationships/slideMaster" Target="slideMasters/slideMaster3.xml"/><Relationship Id="rId18" Type="http://schemas.openxmlformats.org/officeDocument/2006/relationships/font" Target="fonts/Poppins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3109ef6db_0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f3109ef6d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3109ef6db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f3109ef6db_0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3109ef6db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f3109ef6db_0_2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3109ef6db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3109ef6db_0_2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3109ef6db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f3109ef6db_0_2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3109ef6db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3109ef6db_0_2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3109ef6db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3109ef6db_0_3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3109ef6db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f3109ef6db_0_3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page" showMasterSp="0">
  <p:cSld name="Titlepag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i="0" sz="3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305991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Ein Bild, das Zeichnung enthält.&#10;&#10;Automatisch generierte Beschreibung" id="55" name="Google Shape;5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page" showMasterSp="0">
  <p:cSld name="Titlepag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i="0" sz="3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3" type="body"/>
          </p:nvPr>
        </p:nvSpPr>
        <p:spPr>
          <a:xfrm>
            <a:off x="305991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Ein Bild, das Zeichnung enthält.&#10;&#10;Automatisch generierte Beschreibung" id="66" name="Google Shape;6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slide black">
  <p:cSld name="Chapter slide blac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white">
  <p:cSld name="Only Title white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" name="Google Shape;7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black">
  <p:cSld name="Only Title blac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18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slide white">
  <p:cSld name="Chapterslide white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page with graphic" showMasterSp="0">
  <p:cSld name="Titlepage with graphic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i="0" sz="3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305992" y="4013900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2" type="body"/>
          </p:nvPr>
        </p:nvSpPr>
        <p:spPr>
          <a:xfrm>
            <a:off x="305992" y="4252091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3" type="body"/>
          </p:nvPr>
        </p:nvSpPr>
        <p:spPr>
          <a:xfrm>
            <a:off x="305993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Ein Bild, das Zeichnung enthält.&#10;&#10;Automatisch generierte Beschreibung" id="86" name="Google Shape;8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0"/>
          <p:cNvSpPr/>
          <p:nvPr>
            <p:ph idx="4" type="pic"/>
          </p:nvPr>
        </p:nvSpPr>
        <p:spPr>
          <a:xfrm>
            <a:off x="4842273" y="0"/>
            <a:ext cx="43017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page white" showMasterSp="0">
  <p:cSld name="Titlepage white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>
            <p:ph type="title"/>
          </p:nvPr>
        </p:nvSpPr>
        <p:spPr>
          <a:xfrm>
            <a:off x="306016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i="0" sz="3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1" type="body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3" type="body"/>
          </p:nvPr>
        </p:nvSpPr>
        <p:spPr>
          <a:xfrm>
            <a:off x="306017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Ein Bild, das Zeichnung enthält.&#10;&#10;Automatisch generierte Beschreibung" id="93" name="Google Shape;9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with details" showMasterSp="0">
  <p:cSld name="Thank you with detail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305992" y="2181038"/>
            <a:ext cx="42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305991" y="2874340"/>
            <a:ext cx="426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Ein Bild, das Zeichnung enthält.&#10;&#10;Automatisch generierte Beschreibung" id="97" name="Google Shape;9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." showMasterSp="0">
  <p:cSld name="Thank you.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/>
          <p:nvPr>
            <p:ph type="title"/>
          </p:nvPr>
        </p:nvSpPr>
        <p:spPr>
          <a:xfrm>
            <a:off x="305991" y="2735036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0" name="Google Shape;100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23657" y="1825961"/>
            <a:ext cx="696687" cy="741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black">
  <p:cSld name="Only Title black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25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slide black">
  <p:cSld name="Chapter slide blac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slide white">
  <p:cSld name="Chapterslide white"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white">
  <p:cSld name="Only Title white"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8" name="Google Shape;11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page" showMasterSp="0">
  <p:cSld name="Titlepag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/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i="0" sz="3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" type="body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2" type="body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9"/>
          <p:cNvSpPr txBox="1"/>
          <p:nvPr>
            <p:ph idx="3" type="body"/>
          </p:nvPr>
        </p:nvSpPr>
        <p:spPr>
          <a:xfrm>
            <a:off x="305991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Ein Bild, das Zeichnung enthält.&#10;&#10;Automatisch generierte Beschreibung" id="125" name="Google Shape;12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page white" showMasterSp="0">
  <p:cSld name="Titlepage white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/>
          <p:nvPr>
            <p:ph type="title"/>
          </p:nvPr>
        </p:nvSpPr>
        <p:spPr>
          <a:xfrm>
            <a:off x="306016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i="0" sz="3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" type="body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2" type="body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30"/>
          <p:cNvSpPr txBox="1"/>
          <p:nvPr>
            <p:ph idx="3" type="body"/>
          </p:nvPr>
        </p:nvSpPr>
        <p:spPr>
          <a:xfrm>
            <a:off x="306017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Ein Bild, das Zeichnung enthält.&#10;&#10;Automatisch generierte Beschreibung" id="131" name="Google Shape;13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page with graphic" showMasterSp="0">
  <p:cSld name="Titlepage with graphic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/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i="0" sz="3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" type="body"/>
          </p:nvPr>
        </p:nvSpPr>
        <p:spPr>
          <a:xfrm>
            <a:off x="305992" y="4013900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2" type="body"/>
          </p:nvPr>
        </p:nvSpPr>
        <p:spPr>
          <a:xfrm>
            <a:off x="305992" y="4252091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31"/>
          <p:cNvSpPr txBox="1"/>
          <p:nvPr>
            <p:ph idx="3" type="body"/>
          </p:nvPr>
        </p:nvSpPr>
        <p:spPr>
          <a:xfrm>
            <a:off x="305993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Ein Bild, das Zeichnung enthält.&#10;&#10;Automatisch generierte Beschreibung" id="137" name="Google Shape;137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1"/>
          <p:cNvSpPr/>
          <p:nvPr>
            <p:ph idx="4" type="pic"/>
          </p:nvPr>
        </p:nvSpPr>
        <p:spPr>
          <a:xfrm>
            <a:off x="4842273" y="0"/>
            <a:ext cx="43017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with details" showMasterSp="0">
  <p:cSld name="Thank you with details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2"/>
          <p:cNvSpPr txBox="1"/>
          <p:nvPr>
            <p:ph type="title"/>
          </p:nvPr>
        </p:nvSpPr>
        <p:spPr>
          <a:xfrm>
            <a:off x="305992" y="2181038"/>
            <a:ext cx="42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2"/>
          <p:cNvSpPr txBox="1"/>
          <p:nvPr>
            <p:ph idx="1" type="body"/>
          </p:nvPr>
        </p:nvSpPr>
        <p:spPr>
          <a:xfrm>
            <a:off x="305991" y="2874340"/>
            <a:ext cx="426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Ein Bild, das Zeichnung enthält.&#10;&#10;Automatisch generierte Beschreibung" id="142" name="Google Shape;14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." showMasterSp="0">
  <p:cSld name="Thank you.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/>
          <p:nvPr>
            <p:ph type="title"/>
          </p:nvPr>
        </p:nvSpPr>
        <p:spPr>
          <a:xfrm>
            <a:off x="305991" y="2735036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5" name="Google Shape;14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23657" y="1825961"/>
            <a:ext cx="696687" cy="741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theme" Target="../theme/theme4.xml"/><Relationship Id="rId10" Type="http://schemas.openxmlformats.org/officeDocument/2006/relationships/slideLayout" Target="../slideLayouts/slideLayout2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30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05991" y="1059656"/>
            <a:ext cx="85320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3">
          <p15:clr>
            <a:srgbClr val="F26B43"/>
          </p15:clr>
        </p15:guide>
        <p15:guide id="2" pos="5567">
          <p15:clr>
            <a:srgbClr val="F26B43"/>
          </p15:clr>
        </p15:guide>
        <p15:guide id="3" orient="horz" pos="174">
          <p15:clr>
            <a:srgbClr val="F26B43"/>
          </p15:clr>
        </p15:guide>
        <p15:guide id="4" orient="horz" pos="3066">
          <p15:clr>
            <a:srgbClr val="F26B43"/>
          </p15:clr>
        </p15:guide>
        <p15:guide id="5" orient="horz" pos="2930">
          <p15:clr>
            <a:srgbClr val="F26B43"/>
          </p15:clr>
        </p15:guide>
        <p15:guide id="6" orient="horz" pos="540">
          <p15:clr>
            <a:srgbClr val="F26B43"/>
          </p15:clr>
        </p15:guide>
        <p15:guide id="7" orient="horz" pos="66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4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4"/>
          <p:cNvSpPr txBox="1"/>
          <p:nvPr>
            <p:ph idx="1" type="body"/>
          </p:nvPr>
        </p:nvSpPr>
        <p:spPr>
          <a:xfrm>
            <a:off x="305991" y="1059656"/>
            <a:ext cx="85320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4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3">
          <p15:clr>
            <a:srgbClr val="F26B43"/>
          </p15:clr>
        </p15:guide>
        <p15:guide id="2" pos="5567">
          <p15:clr>
            <a:srgbClr val="F26B43"/>
          </p15:clr>
        </p15:guide>
        <p15:guide id="3" orient="horz" pos="174">
          <p15:clr>
            <a:srgbClr val="F26B43"/>
          </p15:clr>
        </p15:guide>
        <p15:guide id="4" orient="horz" pos="3066">
          <p15:clr>
            <a:srgbClr val="F26B43"/>
          </p15:clr>
        </p15:guide>
        <p15:guide id="5" orient="horz" pos="2930">
          <p15:clr>
            <a:srgbClr val="F26B43"/>
          </p15:clr>
        </p15:guide>
        <p15:guide id="6" orient="horz" pos="540">
          <p15:clr>
            <a:srgbClr val="F26B43"/>
          </p15:clr>
        </p15:guide>
        <p15:guide id="7" orient="horz" pos="6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4"/>
          <p:cNvSpPr txBox="1"/>
          <p:nvPr>
            <p:ph type="title"/>
          </p:nvPr>
        </p:nvSpPr>
        <p:spPr>
          <a:xfrm>
            <a:off x="305992" y="1337057"/>
            <a:ext cx="8531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lang="en" sz="3800"/>
              <a:t>Sustainability</a:t>
            </a:r>
            <a:r>
              <a:rPr b="0" lang="en" sz="3800"/>
              <a:t> Capstone:</a:t>
            </a:r>
            <a:endParaRPr b="0" sz="3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lang="en" sz="3800"/>
              <a:t>Decarbonising Travel</a:t>
            </a:r>
            <a:endParaRPr b="0" sz="3800"/>
          </a:p>
        </p:txBody>
      </p:sp>
      <p:sp>
        <p:nvSpPr>
          <p:cNvPr id="151" name="Google Shape;151;p34"/>
          <p:cNvSpPr txBox="1"/>
          <p:nvPr>
            <p:ph idx="1" type="body"/>
          </p:nvPr>
        </p:nvSpPr>
        <p:spPr>
          <a:xfrm>
            <a:off x="305992" y="3706100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Speaker name: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Institute: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Branch &amp; Year of Study: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Email ID: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52" name="Google Shape;152;p34"/>
          <p:cNvSpPr txBox="1"/>
          <p:nvPr>
            <p:ph idx="3" type="body"/>
          </p:nvPr>
        </p:nvSpPr>
        <p:spPr>
          <a:xfrm>
            <a:off x="305991" y="2808542"/>
            <a:ext cx="426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"/>
              <a:t>And also, a subheadline that </a:t>
            </a:r>
            <a:br>
              <a:rPr lang="en"/>
            </a:br>
            <a:r>
              <a:rPr lang="en"/>
              <a:t>is really awesome.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Summary</a:t>
            </a:r>
            <a:endParaRPr/>
          </a:p>
        </p:txBody>
      </p:sp>
      <p:sp>
        <p:nvSpPr>
          <p:cNvPr id="158" name="Google Shape;158;p35"/>
          <p:cNvSpPr txBox="1"/>
          <p:nvPr/>
        </p:nvSpPr>
        <p:spPr>
          <a:xfrm>
            <a:off x="315950" y="1069975"/>
            <a:ext cx="85218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Your headline numbers — total emissions, top 3 insights,  top 3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recommendations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projected impact. Why decarbonizing travel is critical to Celonis' emissions reduction targets for 2030.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6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Emissions Profile and Benchmarking</a:t>
            </a:r>
            <a:endParaRPr/>
          </a:p>
        </p:txBody>
      </p:sp>
      <p:sp>
        <p:nvSpPr>
          <p:cNvPr id="164" name="Google Shape;164;p36"/>
          <p:cNvSpPr txBox="1"/>
          <p:nvPr/>
        </p:nvSpPr>
        <p:spPr>
          <a:xfrm>
            <a:off x="315950" y="1069975"/>
            <a:ext cx="85218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Show what Celonis' current carbon footprint looks like across travel modes and regions, benchmarked against the tech industry (cite your sources).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7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Hotspot Analysis</a:t>
            </a:r>
            <a:endParaRPr/>
          </a:p>
        </p:txBody>
      </p:sp>
      <p:sp>
        <p:nvSpPr>
          <p:cNvPr id="170" name="Google Shape;170;p37"/>
          <p:cNvSpPr txBox="1"/>
          <p:nvPr/>
        </p:nvSpPr>
        <p:spPr>
          <a:xfrm>
            <a:off x="315950" y="1069975"/>
            <a:ext cx="8521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Identify which business units, routes, or travel purposes are driving the most emissions — and by how much.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8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Inefficiencies Identified</a:t>
            </a:r>
            <a:endParaRPr/>
          </a:p>
        </p:txBody>
      </p:sp>
      <p:sp>
        <p:nvSpPr>
          <p:cNvPr id="176" name="Google Shape;176;p38"/>
          <p:cNvSpPr txBox="1"/>
          <p:nvPr/>
        </p:nvSpPr>
        <p:spPr>
          <a:xfrm>
            <a:off x="315950" y="1069975"/>
            <a:ext cx="8521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Identify the inefficiencies and pain points as analysed in the data.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9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 Carbon Strategic Recommendations (Quantified)</a:t>
            </a:r>
            <a:endParaRPr/>
          </a:p>
        </p:txBody>
      </p:sp>
      <p:sp>
        <p:nvSpPr>
          <p:cNvPr id="182" name="Google Shape;182;p39"/>
          <p:cNvSpPr txBox="1"/>
          <p:nvPr/>
        </p:nvSpPr>
        <p:spPr>
          <a:xfrm>
            <a:off x="315950" y="1069975"/>
            <a:ext cx="85218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Present your top actionable recommendations, each backed by quantified CO₂ and cost savings</a:t>
            </a:r>
            <a:r>
              <a:rPr i="1" lang="en" sz="1100">
                <a:solidFill>
                  <a:schemeClr val="dk1"/>
                </a:solidFill>
              </a:rPr>
              <a:t>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0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Strategic Integration Roadmap</a:t>
            </a:r>
            <a:endParaRPr/>
          </a:p>
        </p:txBody>
      </p:sp>
      <p:sp>
        <p:nvSpPr>
          <p:cNvPr id="188" name="Google Shape;188;p40"/>
          <p:cNvSpPr txBox="1"/>
          <p:nvPr/>
        </p:nvSpPr>
        <p:spPr>
          <a:xfrm>
            <a:off x="315950" y="1069975"/>
            <a:ext cx="8521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Outline how your solution scales into a long-term sustainability strategy, with a phased plan through 2030</a:t>
            </a:r>
            <a:r>
              <a:rPr i="1" lang="en" sz="1100">
                <a:solidFill>
                  <a:schemeClr val="dk1"/>
                </a:solidFill>
              </a:rPr>
              <a:t>.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1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Screenshots (max 3 slides) - will be used to shortlist</a:t>
            </a:r>
            <a:endParaRPr/>
          </a:p>
        </p:txBody>
      </p:sp>
      <p:sp>
        <p:nvSpPr>
          <p:cNvPr id="194" name="Google Shape;194;p41"/>
          <p:cNvSpPr txBox="1"/>
          <p:nvPr/>
        </p:nvSpPr>
        <p:spPr>
          <a:xfrm>
            <a:off x="315950" y="1069975"/>
            <a:ext cx="8521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Showcase your Celonis dashboards with annotated highlights of the key insights each view delivers.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elonis Template 2024">
  <a:themeElements>
    <a:clrScheme name="Celonis">
      <a:dk1>
        <a:srgbClr val="000000"/>
      </a:dk1>
      <a:lt1>
        <a:srgbClr val="FFFFFF"/>
      </a:lt1>
      <a:dk2>
        <a:srgbClr val="000143"/>
      </a:dk2>
      <a:lt2>
        <a:srgbClr val="0028FF"/>
      </a:lt2>
      <a:accent1>
        <a:srgbClr val="5CFE50"/>
      </a:accent1>
      <a:accent2>
        <a:srgbClr val="00DCFF"/>
      </a:accent2>
      <a:accent3>
        <a:srgbClr val="B6FE76"/>
      </a:accent3>
      <a:accent4>
        <a:srgbClr val="EDFF61"/>
      </a:accent4>
      <a:accent5>
        <a:srgbClr val="7E8383"/>
      </a:accent5>
      <a:accent6>
        <a:srgbClr val="464650"/>
      </a:accent6>
      <a:hlink>
        <a:srgbClr val="0028FF"/>
      </a:hlink>
      <a:folHlink>
        <a:srgbClr val="00D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elonis Template 2024">
  <a:themeElements>
    <a:clrScheme name="Celonis">
      <a:dk1>
        <a:srgbClr val="000000"/>
      </a:dk1>
      <a:lt1>
        <a:srgbClr val="FFFFFF"/>
      </a:lt1>
      <a:dk2>
        <a:srgbClr val="000143"/>
      </a:dk2>
      <a:lt2>
        <a:srgbClr val="0028FF"/>
      </a:lt2>
      <a:accent1>
        <a:srgbClr val="5CFE50"/>
      </a:accent1>
      <a:accent2>
        <a:srgbClr val="00DCFF"/>
      </a:accent2>
      <a:accent3>
        <a:srgbClr val="B6FE76"/>
      </a:accent3>
      <a:accent4>
        <a:srgbClr val="EDFF61"/>
      </a:accent4>
      <a:accent5>
        <a:srgbClr val="7E8383"/>
      </a:accent5>
      <a:accent6>
        <a:srgbClr val="464650"/>
      </a:accent6>
      <a:hlink>
        <a:srgbClr val="0028FF"/>
      </a:hlink>
      <a:folHlink>
        <a:srgbClr val="00D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